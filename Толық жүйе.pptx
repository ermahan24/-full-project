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5486400" cy="8229600"/>
          </a:xfrm>
          <a:prstGeom prst="rect">
            <a:avLst/>
          </a:prstGeom>
        </p:spPr>
      </p:pic>
      <p:sp>
        <p:nvSpPr>
          <p:cNvPr id="3" name="TextBox 2"/>
          <p:cNvSpPr txBox="1"/>
          <p:nvPr/>
        </p:nvSpPr>
        <p:spPr>
          <a:xfrm>
            <a:off x="6273800" y="1524000"/>
            <a:ext cx="7543800" cy="1905000"/>
          </a:xfrm>
          <a:prstGeom prst="rect">
            <a:avLst/>
          </a:prstGeom>
          <a:noFill/>
        </p:spPr>
        <p:txBody>
          <a:bodyPr wrap="square" anchor="b">
            <a:spAutoFit/>
          </a:bodyPr>
          <a:lstStyle/>
          <a:p>
            <a:pPr algn="l">
              <a:defRPr sz="4400" b="1" i="0">
                <a:solidFill>
                  <a:srgbClr val="5C4E3D"/>
                </a:solidFill>
                <a:latin typeface="Libre Baskerville"/>
              </a:defRPr>
            </a:pPr>
            <a:r>
              <a:t>Жүйенің ұғымы</a:t>
            </a:r>
          </a:p>
        </p:txBody>
      </p:sp>
      <p:sp>
        <p:nvSpPr>
          <p:cNvPr id="4" name="TextBox 3"/>
          <p:cNvSpPr txBox="1"/>
          <p:nvPr/>
        </p:nvSpPr>
        <p:spPr>
          <a:xfrm>
            <a:off x="6273800" y="3937000"/>
            <a:ext cx="7543800" cy="1803400"/>
          </a:xfrm>
          <a:prstGeom prst="rect">
            <a:avLst/>
          </a:prstGeom>
          <a:noFill/>
        </p:spPr>
        <p:txBody>
          <a:bodyPr wrap="square" anchor="t">
            <a:spAutoFit/>
          </a:bodyPr>
          <a:lstStyle/>
          <a:p>
            <a:pPr algn="l">
              <a:defRPr sz="1750" b="0" i="0">
                <a:solidFill>
                  <a:srgbClr val="454240"/>
                </a:solidFill>
                <a:latin typeface="DM Sans"/>
              </a:defRPr>
            </a:pPr>
            <a:r>
              <a:t>Толық жүйе дегеніміз – белгілі бір мақсатқа жету үшін өзара байланыста әрекет ететін бөлшектердің жиынтығы болып табылады. Мысалы, адам ағзасы – жүрек, өкпе, ми сияқты органдардан тұратын күрделі жүйеге жатады. Сол сияқты, компьютер де процессор, жады, дисплей сияқты көптеген бөліктерден құралған жүйе ретінде қарастырылады.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762000" y="3429000"/>
            <a:ext cx="13106400" cy="1270000"/>
          </a:xfrm>
          <a:prstGeom prst="rect">
            <a:avLst/>
          </a:prstGeom>
          <a:noFill/>
        </p:spPr>
        <p:txBody>
          <a:bodyPr wrap="square" anchor="b">
            <a:spAutoFit/>
          </a:bodyPr>
          <a:lstStyle/>
          <a:p>
            <a:pPr algn="l">
              <a:defRPr sz="4400" b="1" i="0">
                <a:solidFill>
                  <a:srgbClr val="5C4E3D"/>
                </a:solidFill>
                <a:latin typeface="Libre Baskerville"/>
              </a:defRPr>
            </a:pPr>
            <a:r>
              <a:t>Жүйенің құрылымы</a:t>
            </a:r>
          </a:p>
        </p:txBody>
      </p:sp>
      <p:sp>
        <p:nvSpPr>
          <p:cNvPr id="4" name="Rounded Rectangle 3"/>
          <p:cNvSpPr/>
          <p:nvPr/>
        </p:nvSpPr>
        <p:spPr>
          <a:xfrm>
            <a:off x="762000" y="5080000"/>
            <a:ext cx="64262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42200" y="5080000"/>
            <a:ext cx="64262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5334000"/>
            <a:ext cx="6299200" cy="381000"/>
          </a:xfrm>
          <a:prstGeom prst="rect">
            <a:avLst/>
          </a:prstGeom>
          <a:noFill/>
        </p:spPr>
        <p:txBody>
          <a:bodyPr wrap="square" anchor="t">
            <a:spAutoFit/>
          </a:bodyPr>
          <a:lstStyle/>
          <a:p>
            <a:pPr algn="l">
              <a:defRPr sz="2200" b="1" i="0">
                <a:solidFill>
                  <a:srgbClr val="454240"/>
                </a:solidFill>
                <a:latin typeface="Libre Baskerville"/>
              </a:defRPr>
            </a:pPr>
            <a:r>
              <a:t>Элементтердің орналасуы</a:t>
            </a:r>
          </a:p>
        </p:txBody>
      </p:sp>
      <p:sp>
        <p:nvSpPr>
          <p:cNvPr id="7" name="TextBox 6"/>
          <p:cNvSpPr txBox="1"/>
          <p:nvPr/>
        </p:nvSpPr>
        <p:spPr>
          <a:xfrm>
            <a:off x="889000" y="5842000"/>
            <a:ext cx="6299200" cy="1143000"/>
          </a:xfrm>
          <a:prstGeom prst="rect">
            <a:avLst/>
          </a:prstGeom>
          <a:noFill/>
        </p:spPr>
        <p:txBody>
          <a:bodyPr wrap="square" anchor="t">
            <a:spAutoFit/>
          </a:bodyPr>
          <a:lstStyle/>
          <a:p>
            <a:pPr algn="l">
              <a:defRPr sz="1750" b="0" i="0">
                <a:solidFill>
                  <a:srgbClr val="454240"/>
                </a:solidFill>
                <a:latin typeface="DM Sans"/>
              </a:defRPr>
            </a:pPr>
            <a:r>
              <a:t>Әрбір жүйе өзінің белгілі бір құрылымына ие, бұл оның элементтерінің қалай орналасқанын және бір-бірімен қалай байланысқанын білдіреді. Мысалы, отбасы – ата-ана, балалар, туыстар сияқты мүшелерден тұратын әлеуметтік жүйе.</a:t>
            </a:r>
          </a:p>
        </p:txBody>
      </p:sp>
      <p:sp>
        <p:nvSpPr>
          <p:cNvPr id="8" name="TextBox 7"/>
          <p:cNvSpPr txBox="1"/>
          <p:nvPr/>
        </p:nvSpPr>
        <p:spPr>
          <a:xfrm>
            <a:off x="7569200" y="5334000"/>
            <a:ext cx="6299200" cy="381000"/>
          </a:xfrm>
          <a:prstGeom prst="rect">
            <a:avLst/>
          </a:prstGeom>
          <a:noFill/>
        </p:spPr>
        <p:txBody>
          <a:bodyPr wrap="square" anchor="t">
            <a:spAutoFit/>
          </a:bodyPr>
          <a:lstStyle/>
          <a:p>
            <a:pPr algn="l">
              <a:defRPr sz="2200" b="1" i="0">
                <a:solidFill>
                  <a:srgbClr val="454240"/>
                </a:solidFill>
                <a:latin typeface="Libre Baskerville"/>
              </a:defRPr>
            </a:pPr>
            <a:r>
              <a:t>Мысалдар</a:t>
            </a:r>
          </a:p>
        </p:txBody>
      </p:sp>
      <p:sp>
        <p:nvSpPr>
          <p:cNvPr id="9" name="TextBox 8"/>
          <p:cNvSpPr txBox="1"/>
          <p:nvPr/>
        </p:nvSpPr>
        <p:spPr>
          <a:xfrm>
            <a:off x="7569200" y="5842000"/>
            <a:ext cx="6299200" cy="1143000"/>
          </a:xfrm>
          <a:prstGeom prst="rect">
            <a:avLst/>
          </a:prstGeom>
          <a:noFill/>
        </p:spPr>
        <p:txBody>
          <a:bodyPr wrap="square" anchor="t">
            <a:spAutoFit/>
          </a:bodyPr>
          <a:lstStyle/>
          <a:p>
            <a:pPr algn="l">
              <a:defRPr sz="1750" b="0" i="0">
                <a:solidFill>
                  <a:srgbClr val="454240"/>
                </a:solidFill>
                <a:latin typeface="DM Sans"/>
              </a:defRPr>
            </a:pPr>
            <a:r>
              <a:t>Күн жүйесі – орталық Күн және оған бағынышты планеталар мен басқа да аспан денелерінен тұратын табиғи жүйе болып есептеледі. Бұл құрылым элементтердің белгілі бір тәртіппен орналасқанын көрсетеді.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sp>
        <p:nvSpPr>
          <p:cNvPr id="2" name="TextBox 1"/>
          <p:cNvSpPr txBox="1"/>
          <p:nvPr/>
        </p:nvSpPr>
        <p:spPr>
          <a:xfrm>
            <a:off x="889000" y="977900"/>
            <a:ext cx="12700000" cy="762000"/>
          </a:xfrm>
          <a:prstGeom prst="rect">
            <a:avLst/>
          </a:prstGeom>
          <a:noFill/>
        </p:spPr>
        <p:txBody>
          <a:bodyPr wrap="square" anchor="t">
            <a:spAutoFit/>
          </a:bodyPr>
          <a:lstStyle/>
          <a:p>
            <a:pPr algn="l">
              <a:defRPr sz="4400" b="1" i="0">
                <a:solidFill>
                  <a:srgbClr val="5C4E3D"/>
                </a:solidFill>
                <a:latin typeface="Libre Baskerville"/>
              </a:defRPr>
            </a:pPr>
            <a:r>
              <a:t>Жүйенің функциялары</a:t>
            </a:r>
          </a:p>
        </p:txBody>
      </p:sp>
      <p:sp>
        <p:nvSpPr>
          <p:cNvPr id="3" name="Rounded Rectangle 2"/>
          <p:cNvSpPr/>
          <p:nvPr/>
        </p:nvSpPr>
        <p:spPr>
          <a:xfrm>
            <a:off x="1079500" y="4502150"/>
            <a:ext cx="129921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46550" y="4038600"/>
            <a:ext cx="12700" cy="3175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34250" y="4660900"/>
            <a:ext cx="12700" cy="3175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509250" y="4038600"/>
            <a:ext cx="12700" cy="3175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937000" y="4292600"/>
            <a:ext cx="431800" cy="431800"/>
          </a:xfrm>
          <a:prstGeom prst="roundRect">
            <a:avLst>
              <a:gd name="adj" fmla="val 5000"/>
            </a:avLst>
          </a:prstGeom>
          <a:solidFill>
            <a:srgbClr val="F7EDD4"/>
          </a:solidFill>
          <a:ln w="12700">
            <a:solidFill>
              <a:srgbClr val="F7E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24700" y="4292600"/>
            <a:ext cx="431800" cy="431800"/>
          </a:xfrm>
          <a:prstGeom prst="roundRect">
            <a:avLst>
              <a:gd name="adj" fmla="val 5000"/>
            </a:avLst>
          </a:prstGeom>
          <a:solidFill>
            <a:srgbClr val="F7EDD4"/>
          </a:solidFill>
          <a:ln w="12700">
            <a:solidFill>
              <a:srgbClr val="F7E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299700" y="4292600"/>
            <a:ext cx="431800" cy="431800"/>
          </a:xfrm>
          <a:prstGeom prst="roundRect">
            <a:avLst>
              <a:gd name="adj" fmla="val 5000"/>
            </a:avLst>
          </a:prstGeom>
          <a:solidFill>
            <a:srgbClr val="F7EDD4"/>
          </a:solidFill>
          <a:ln w="12700">
            <a:solidFill>
              <a:srgbClr val="F7E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1400" y="2095500"/>
            <a:ext cx="6083300" cy="431800"/>
          </a:xfrm>
          <a:prstGeom prst="rect">
            <a:avLst/>
          </a:prstGeom>
          <a:noFill/>
        </p:spPr>
        <p:txBody>
          <a:bodyPr wrap="square" anchor="t">
            <a:spAutoFit/>
          </a:bodyPr>
          <a:lstStyle/>
          <a:p>
            <a:pPr algn="ctr">
              <a:defRPr sz="2200" b="1" i="0">
                <a:solidFill>
                  <a:srgbClr val="454240"/>
                </a:solidFill>
                <a:latin typeface="Libre Baskerville"/>
              </a:defRPr>
            </a:pPr>
            <a:r>
              <a:t>Мақсатқа байланысты</a:t>
            </a:r>
          </a:p>
        </p:txBody>
      </p:sp>
      <p:sp>
        <p:nvSpPr>
          <p:cNvPr id="11" name="TextBox 10"/>
          <p:cNvSpPr txBox="1"/>
          <p:nvPr/>
        </p:nvSpPr>
        <p:spPr>
          <a:xfrm>
            <a:off x="1041400" y="2730500"/>
            <a:ext cx="6083300" cy="1143000"/>
          </a:xfrm>
          <a:prstGeom prst="rect">
            <a:avLst/>
          </a:prstGeom>
          <a:noFill/>
        </p:spPr>
        <p:txBody>
          <a:bodyPr wrap="square" anchor="t">
            <a:spAutoFit/>
          </a:bodyPr>
          <a:lstStyle/>
          <a:p>
            <a:pPr algn="ctr">
              <a:defRPr sz="1750" b="0" i="0">
                <a:solidFill>
                  <a:srgbClr val="454240"/>
                </a:solidFill>
                <a:latin typeface="DM Sans"/>
              </a:defRPr>
            </a:pPr>
            <a:r>
              <a:t>Жүйелер өзінің белгілі бір функциясын орындайды, бұл оның жалпы мақсатына тікелей байланысты болады. Мысалы, көлік жүйесі адамдарды немесе жүкті тасымалдау функциясын атқарады.</a:t>
            </a:r>
          </a:p>
        </p:txBody>
      </p:sp>
      <p:pic>
        <p:nvPicPr>
          <p:cNvPr id="12" name="Picture 11" descr="image.png"/>
          <p:cNvPicPr>
            <a:picLocks noChangeAspect="1"/>
          </p:cNvPicPr>
          <p:nvPr/>
        </p:nvPicPr>
        <p:blipFill>
          <a:blip r:embed="rId2"/>
          <a:stretch>
            <a:fillRect/>
          </a:stretch>
        </p:blipFill>
        <p:spPr>
          <a:xfrm>
            <a:off x="4025900" y="4381500"/>
            <a:ext cx="254000" cy="254000"/>
          </a:xfrm>
          <a:prstGeom prst="rect">
            <a:avLst/>
          </a:prstGeom>
        </p:spPr>
      </p:pic>
      <p:sp>
        <p:nvSpPr>
          <p:cNvPr id="13" name="TextBox 12"/>
          <p:cNvSpPr txBox="1"/>
          <p:nvPr/>
        </p:nvSpPr>
        <p:spPr>
          <a:xfrm>
            <a:off x="4267200" y="5207000"/>
            <a:ext cx="6083300" cy="431800"/>
          </a:xfrm>
          <a:prstGeom prst="rect">
            <a:avLst/>
          </a:prstGeom>
          <a:noFill/>
        </p:spPr>
        <p:txBody>
          <a:bodyPr wrap="square" anchor="t">
            <a:spAutoFit/>
          </a:bodyPr>
          <a:lstStyle/>
          <a:p>
            <a:pPr algn="ctr">
              <a:defRPr sz="2200" b="1" i="0">
                <a:solidFill>
                  <a:srgbClr val="454240"/>
                </a:solidFill>
                <a:latin typeface="Libre Baskerville"/>
              </a:defRPr>
            </a:pPr>
            <a:r>
              <a:t>Табиғи функциялар</a:t>
            </a:r>
          </a:p>
        </p:txBody>
      </p:sp>
      <p:sp>
        <p:nvSpPr>
          <p:cNvPr id="14" name="TextBox 13"/>
          <p:cNvSpPr txBox="1"/>
          <p:nvPr/>
        </p:nvSpPr>
        <p:spPr>
          <a:xfrm>
            <a:off x="4267200" y="5727700"/>
            <a:ext cx="6083300" cy="1143000"/>
          </a:xfrm>
          <a:prstGeom prst="rect">
            <a:avLst/>
          </a:prstGeom>
          <a:noFill/>
        </p:spPr>
        <p:txBody>
          <a:bodyPr wrap="square" anchor="t">
            <a:spAutoFit/>
          </a:bodyPr>
          <a:lstStyle/>
          <a:p>
            <a:pPr algn="ctr">
              <a:defRPr sz="1750" b="0" i="0">
                <a:solidFill>
                  <a:srgbClr val="454240"/>
                </a:solidFill>
                <a:latin typeface="DM Sans"/>
              </a:defRPr>
            </a:pPr>
            <a:r>
              <a:t>Экожүйе табиғаттағы тірі және өлі ағзалар арасындағы күрделі байланысты қамтамасыз ету функциясын атқарады. Бұл функция табиғи тепе-теңдікті сақтауға көмектеседі.</a:t>
            </a:r>
          </a:p>
        </p:txBody>
      </p:sp>
      <p:pic>
        <p:nvPicPr>
          <p:cNvPr id="15" name="Picture 14" descr="image.png"/>
          <p:cNvPicPr>
            <a:picLocks noChangeAspect="1"/>
          </p:cNvPicPr>
          <p:nvPr/>
        </p:nvPicPr>
        <p:blipFill>
          <a:blip r:embed="rId3"/>
          <a:stretch>
            <a:fillRect/>
          </a:stretch>
        </p:blipFill>
        <p:spPr>
          <a:xfrm>
            <a:off x="7213600" y="4381500"/>
            <a:ext cx="254000" cy="254000"/>
          </a:xfrm>
          <a:prstGeom prst="rect">
            <a:avLst/>
          </a:prstGeom>
        </p:spPr>
      </p:pic>
      <p:sp>
        <p:nvSpPr>
          <p:cNvPr id="16" name="TextBox 15"/>
          <p:cNvSpPr txBox="1"/>
          <p:nvPr/>
        </p:nvSpPr>
        <p:spPr>
          <a:xfrm>
            <a:off x="7505700" y="2120900"/>
            <a:ext cx="6083300" cy="431800"/>
          </a:xfrm>
          <a:prstGeom prst="rect">
            <a:avLst/>
          </a:prstGeom>
          <a:noFill/>
        </p:spPr>
        <p:txBody>
          <a:bodyPr wrap="square" anchor="t">
            <a:spAutoFit/>
          </a:bodyPr>
          <a:lstStyle/>
          <a:p>
            <a:pPr algn="ctr">
              <a:defRPr sz="2200" b="1" i="0">
                <a:solidFill>
                  <a:srgbClr val="454240"/>
                </a:solidFill>
                <a:latin typeface="Libre Baskerville"/>
              </a:defRPr>
            </a:pPr>
            <a:r>
              <a:t>Техникалық функциялар</a:t>
            </a:r>
          </a:p>
        </p:txBody>
      </p:sp>
      <p:sp>
        <p:nvSpPr>
          <p:cNvPr id="17" name="TextBox 16"/>
          <p:cNvSpPr txBox="1"/>
          <p:nvPr/>
        </p:nvSpPr>
        <p:spPr>
          <a:xfrm>
            <a:off x="7505700" y="2730500"/>
            <a:ext cx="6083300" cy="1143000"/>
          </a:xfrm>
          <a:prstGeom prst="rect">
            <a:avLst/>
          </a:prstGeom>
          <a:noFill/>
        </p:spPr>
        <p:txBody>
          <a:bodyPr wrap="square" anchor="t">
            <a:spAutoFit/>
          </a:bodyPr>
          <a:lstStyle/>
          <a:p>
            <a:pPr algn="ctr">
              <a:defRPr sz="1750" b="0" i="0">
                <a:solidFill>
                  <a:srgbClr val="454240"/>
                </a:solidFill>
                <a:latin typeface="DM Sans"/>
              </a:defRPr>
            </a:pPr>
            <a:r>
              <a:t>Компьютер жүйесі ақпаратты өңдеу, сақтау және көрсету функцияларын орындайды. Осы функциялар арқылы компьютер адамдарға әртүрлі тапсырмаларды орындауға көмектеседі.</a:t>
            </a:r>
          </a:p>
        </p:txBody>
      </p:sp>
      <p:pic>
        <p:nvPicPr>
          <p:cNvPr id="18" name="Picture 17" descr="image.png"/>
          <p:cNvPicPr>
            <a:picLocks noChangeAspect="1"/>
          </p:cNvPicPr>
          <p:nvPr/>
        </p:nvPicPr>
        <p:blipFill>
          <a:blip r:embed="rId4"/>
          <a:stretch>
            <a:fillRect/>
          </a:stretch>
        </p:blipFill>
        <p:spPr>
          <a:xfrm>
            <a:off x="10388600" y="4381500"/>
            <a:ext cx="254000" cy="254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762000" y="3429000"/>
            <a:ext cx="13106400" cy="1270000"/>
          </a:xfrm>
          <a:prstGeom prst="rect">
            <a:avLst/>
          </a:prstGeom>
          <a:noFill/>
        </p:spPr>
        <p:txBody>
          <a:bodyPr wrap="square" anchor="b">
            <a:spAutoFit/>
          </a:bodyPr>
          <a:lstStyle/>
          <a:p>
            <a:pPr algn="l">
              <a:defRPr sz="4400" b="1" i="0">
                <a:solidFill>
                  <a:srgbClr val="5C4E3D"/>
                </a:solidFill>
                <a:latin typeface="Libre Baskerville"/>
              </a:defRPr>
            </a:pPr>
            <a:r>
              <a:t>Жүйенің элементтері</a:t>
            </a:r>
          </a:p>
        </p:txBody>
      </p:sp>
      <p:sp>
        <p:nvSpPr>
          <p:cNvPr id="4" name="Rounded Rectangle 3"/>
          <p:cNvSpPr/>
          <p:nvPr/>
        </p:nvSpPr>
        <p:spPr>
          <a:xfrm>
            <a:off x="762000" y="5080000"/>
            <a:ext cx="64262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442200" y="5080000"/>
            <a:ext cx="64262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5334000"/>
            <a:ext cx="6299200" cy="381000"/>
          </a:xfrm>
          <a:prstGeom prst="rect">
            <a:avLst/>
          </a:prstGeom>
          <a:noFill/>
        </p:spPr>
        <p:txBody>
          <a:bodyPr wrap="square" anchor="t">
            <a:spAutoFit/>
          </a:bodyPr>
          <a:lstStyle/>
          <a:p>
            <a:pPr algn="l">
              <a:defRPr sz="2200" b="1" i="0">
                <a:solidFill>
                  <a:srgbClr val="454240"/>
                </a:solidFill>
                <a:latin typeface="Libre Baskerville"/>
              </a:defRPr>
            </a:pPr>
            <a:r>
              <a:t>Әр элементтің рөлі</a:t>
            </a:r>
          </a:p>
        </p:txBody>
      </p:sp>
      <p:sp>
        <p:nvSpPr>
          <p:cNvPr id="7" name="TextBox 6"/>
          <p:cNvSpPr txBox="1"/>
          <p:nvPr/>
        </p:nvSpPr>
        <p:spPr>
          <a:xfrm>
            <a:off x="889000" y="5842000"/>
            <a:ext cx="6299200" cy="1143000"/>
          </a:xfrm>
          <a:prstGeom prst="rect">
            <a:avLst/>
          </a:prstGeom>
          <a:noFill/>
        </p:spPr>
        <p:txBody>
          <a:bodyPr wrap="square" anchor="t">
            <a:spAutoFit/>
          </a:bodyPr>
          <a:lstStyle/>
          <a:p>
            <a:pPr algn="l">
              <a:defRPr sz="1750" b="0" i="0">
                <a:solidFill>
                  <a:srgbClr val="454240"/>
                </a:solidFill>
                <a:latin typeface="DM Sans"/>
              </a:defRPr>
            </a:pPr>
            <a:r>
              <a:t>Жүйенің әрбір бөлігі, яғни элементі, оның жалпы жұмысында маңызды рөл атқарады. Мысалы, ғарыш кемесінің жүйесіндегі әрбір бөлшек, соның ішінде датчик, қозғалтқыш, басқару пульті – ғарышқа сәтті ұшу үшін қажетті құрамдас бөліктер.</a:t>
            </a:r>
          </a:p>
        </p:txBody>
      </p:sp>
      <p:sp>
        <p:nvSpPr>
          <p:cNvPr id="8" name="TextBox 7"/>
          <p:cNvSpPr txBox="1"/>
          <p:nvPr/>
        </p:nvSpPr>
        <p:spPr>
          <a:xfrm>
            <a:off x="7569200" y="5334000"/>
            <a:ext cx="6299200" cy="381000"/>
          </a:xfrm>
          <a:prstGeom prst="rect">
            <a:avLst/>
          </a:prstGeom>
          <a:noFill/>
        </p:spPr>
        <p:txBody>
          <a:bodyPr wrap="square" anchor="t">
            <a:spAutoFit/>
          </a:bodyPr>
          <a:lstStyle/>
          <a:p>
            <a:pPr algn="l">
              <a:defRPr sz="2200" b="1" i="0">
                <a:solidFill>
                  <a:srgbClr val="454240"/>
                </a:solidFill>
                <a:latin typeface="Libre Baskerville"/>
              </a:defRPr>
            </a:pPr>
            <a:r>
              <a:t>Білім беру жүйесі</a:t>
            </a:r>
          </a:p>
        </p:txBody>
      </p:sp>
      <p:sp>
        <p:nvSpPr>
          <p:cNvPr id="9" name="TextBox 8"/>
          <p:cNvSpPr txBox="1"/>
          <p:nvPr/>
        </p:nvSpPr>
        <p:spPr>
          <a:xfrm>
            <a:off x="7569200" y="5842000"/>
            <a:ext cx="6299200" cy="1143000"/>
          </a:xfrm>
          <a:prstGeom prst="rect">
            <a:avLst/>
          </a:prstGeom>
          <a:noFill/>
        </p:spPr>
        <p:txBody>
          <a:bodyPr wrap="square" anchor="t">
            <a:spAutoFit/>
          </a:bodyPr>
          <a:lstStyle/>
          <a:p>
            <a:pPr algn="l">
              <a:defRPr sz="1750" b="0" i="0">
                <a:solidFill>
                  <a:srgbClr val="454240"/>
                </a:solidFill>
                <a:latin typeface="DM Sans"/>
              </a:defRPr>
            </a:pPr>
            <a:r>
              <a:t>Мектеп – мұғалімдер, оқушылар, әкімшілік және оқу бағдарламасы сияқты элементтерден тұратын білім беру жүйесінің бір мысалы болып табылады. Бұл элементтердің өзара әрекеттесуі білім беру процесін құрайды.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sp>
        <p:nvSpPr>
          <p:cNvPr id="2" name="TextBox 1"/>
          <p:cNvSpPr txBox="1"/>
          <p:nvPr/>
        </p:nvSpPr>
        <p:spPr>
          <a:xfrm>
            <a:off x="762000" y="1270000"/>
            <a:ext cx="12700000" cy="1143000"/>
          </a:xfrm>
          <a:prstGeom prst="rect">
            <a:avLst/>
          </a:prstGeom>
          <a:noFill/>
        </p:spPr>
        <p:txBody>
          <a:bodyPr wrap="square" anchor="t">
            <a:spAutoFit/>
          </a:bodyPr>
          <a:lstStyle/>
          <a:p>
            <a:pPr algn="l">
              <a:defRPr sz="4400" b="1" i="0">
                <a:solidFill>
                  <a:srgbClr val="5C4E3D"/>
                </a:solidFill>
                <a:latin typeface="Libre Baskerville"/>
              </a:defRPr>
            </a:pPr>
            <a:r>
              <a:t>Жүйенің қасиеттері</a:t>
            </a:r>
          </a:p>
        </p:txBody>
      </p:sp>
      <p:pic>
        <p:nvPicPr>
          <p:cNvPr id="3" name="Picture 2" descr="image.png"/>
          <p:cNvPicPr>
            <a:picLocks noChangeAspect="1"/>
          </p:cNvPicPr>
          <p:nvPr/>
        </p:nvPicPr>
        <p:blipFill>
          <a:blip r:embed="rId2"/>
          <a:stretch>
            <a:fillRect/>
          </a:stretch>
        </p:blipFill>
        <p:spPr>
          <a:xfrm>
            <a:off x="5156200" y="2540000"/>
            <a:ext cx="4318000" cy="4318000"/>
          </a:xfrm>
          <a:prstGeom prst="rect">
            <a:avLst/>
          </a:prstGeom>
        </p:spPr>
      </p:pic>
      <p:pic>
        <p:nvPicPr>
          <p:cNvPr id="4" name="Picture 3" descr="image.png"/>
          <p:cNvPicPr>
            <a:picLocks noChangeAspect="1"/>
          </p:cNvPicPr>
          <p:nvPr/>
        </p:nvPicPr>
        <p:blipFill>
          <a:blip r:embed="rId3"/>
          <a:stretch>
            <a:fillRect/>
          </a:stretch>
        </p:blipFill>
        <p:spPr>
          <a:xfrm>
            <a:off x="5156200" y="2540000"/>
            <a:ext cx="4318000" cy="4318000"/>
          </a:xfrm>
          <a:prstGeom prst="rect">
            <a:avLst/>
          </a:prstGeom>
        </p:spPr>
      </p:pic>
      <p:pic>
        <p:nvPicPr>
          <p:cNvPr id="5" name="Picture 4" descr="image.png"/>
          <p:cNvPicPr>
            <a:picLocks noChangeAspect="1"/>
          </p:cNvPicPr>
          <p:nvPr/>
        </p:nvPicPr>
        <p:blipFill>
          <a:blip r:embed="rId4"/>
          <a:stretch>
            <a:fillRect/>
          </a:stretch>
        </p:blipFill>
        <p:spPr>
          <a:xfrm>
            <a:off x="5156200" y="2540000"/>
            <a:ext cx="4318000" cy="4318000"/>
          </a:xfrm>
          <a:prstGeom prst="rect">
            <a:avLst/>
          </a:prstGeom>
        </p:spPr>
      </p:pic>
      <p:sp>
        <p:nvSpPr>
          <p:cNvPr id="6" name="TextBox 5"/>
          <p:cNvSpPr txBox="1"/>
          <p:nvPr/>
        </p:nvSpPr>
        <p:spPr>
          <a:xfrm>
            <a:off x="762000" y="3556000"/>
            <a:ext cx="4064000" cy="381000"/>
          </a:xfrm>
          <a:prstGeom prst="rect">
            <a:avLst/>
          </a:prstGeom>
          <a:noFill/>
        </p:spPr>
        <p:txBody>
          <a:bodyPr wrap="square" anchor="t">
            <a:spAutoFit/>
          </a:bodyPr>
          <a:lstStyle/>
          <a:p>
            <a:pPr algn="r">
              <a:defRPr sz="2200" b="1" i="0">
                <a:solidFill>
                  <a:srgbClr val="454240"/>
                </a:solidFill>
                <a:latin typeface="Libre Baskerville"/>
              </a:defRPr>
            </a:pPr>
            <a:r>
              <a:t>Тұтастық</a:t>
            </a:r>
          </a:p>
        </p:txBody>
      </p:sp>
      <p:sp>
        <p:nvSpPr>
          <p:cNvPr id="7" name="TextBox 6"/>
          <p:cNvSpPr txBox="1"/>
          <p:nvPr/>
        </p:nvSpPr>
        <p:spPr>
          <a:xfrm>
            <a:off x="1016000" y="4000500"/>
            <a:ext cx="3810000" cy="2540000"/>
          </a:xfrm>
          <a:prstGeom prst="rect">
            <a:avLst/>
          </a:prstGeom>
          <a:noFill/>
        </p:spPr>
        <p:txBody>
          <a:bodyPr wrap="square" anchor="t">
            <a:spAutoFit/>
          </a:bodyPr>
          <a:lstStyle/>
          <a:p>
            <a:pPr algn="r">
              <a:defRPr sz="1750" b="0" i="0">
                <a:solidFill>
                  <a:srgbClr val="454240"/>
                </a:solidFill>
                <a:latin typeface="DM Sans"/>
              </a:defRPr>
            </a:pPr>
            <a:r>
              <a:t>Жүйелердің ортақ қасиеттерінің бірі – тұтастық, яғни жүйенің бөлшектері ажыратылмай, бір бүтін болып әрекет етуі. Бұл қасиет жүйенің тұрақтылығын қамтамасыз етеді.</a:t>
            </a:r>
          </a:p>
        </p:txBody>
      </p:sp>
      <p:pic>
        <p:nvPicPr>
          <p:cNvPr id="8" name="Picture 7" descr="image.png"/>
          <p:cNvPicPr>
            <a:picLocks noChangeAspect="1"/>
          </p:cNvPicPr>
          <p:nvPr/>
        </p:nvPicPr>
        <p:blipFill>
          <a:blip r:embed="rId5"/>
          <a:stretch>
            <a:fillRect/>
          </a:stretch>
        </p:blipFill>
        <p:spPr>
          <a:xfrm>
            <a:off x="5651500" y="4508500"/>
            <a:ext cx="355600" cy="355600"/>
          </a:xfrm>
          <a:prstGeom prst="rect">
            <a:avLst/>
          </a:prstGeom>
        </p:spPr>
      </p:pic>
      <p:sp>
        <p:nvSpPr>
          <p:cNvPr id="9" name="TextBox 8"/>
          <p:cNvSpPr txBox="1"/>
          <p:nvPr/>
        </p:nvSpPr>
        <p:spPr>
          <a:xfrm>
            <a:off x="9804400" y="2794000"/>
            <a:ext cx="4445000" cy="381000"/>
          </a:xfrm>
          <a:prstGeom prst="rect">
            <a:avLst/>
          </a:prstGeom>
          <a:noFill/>
        </p:spPr>
        <p:txBody>
          <a:bodyPr wrap="square" anchor="t">
            <a:spAutoFit/>
          </a:bodyPr>
          <a:lstStyle/>
          <a:p>
            <a:pPr algn="l">
              <a:defRPr sz="2200" b="1" i="0">
                <a:solidFill>
                  <a:srgbClr val="454240"/>
                </a:solidFill>
                <a:latin typeface="Libre Baskerville"/>
              </a:defRPr>
            </a:pPr>
            <a:r>
              <a:t>Динамикалық</a:t>
            </a:r>
          </a:p>
        </p:txBody>
      </p:sp>
      <p:sp>
        <p:nvSpPr>
          <p:cNvPr id="10" name="TextBox 9"/>
          <p:cNvSpPr txBox="1"/>
          <p:nvPr/>
        </p:nvSpPr>
        <p:spPr>
          <a:xfrm>
            <a:off x="9804400" y="3238500"/>
            <a:ext cx="3810000" cy="1143000"/>
          </a:xfrm>
          <a:prstGeom prst="rect">
            <a:avLst/>
          </a:prstGeom>
          <a:noFill/>
        </p:spPr>
        <p:txBody>
          <a:bodyPr wrap="square" anchor="t">
            <a:spAutoFit/>
          </a:bodyPr>
          <a:lstStyle/>
          <a:p>
            <a:pPr algn="l">
              <a:defRPr sz="1750" b="0" i="0">
                <a:solidFill>
                  <a:srgbClr val="454240"/>
                </a:solidFill>
                <a:latin typeface="DM Sans"/>
              </a:defRPr>
            </a:pPr>
            <a:r>
              <a:t>Жүйелер динамикалық қасиетке ие, яғни олар уақыт өте келе өзгеруі, дамуы және жаңа жағдайларға бейімделуі мүмкін. Бұл олардың белсенділігін көрсетеді.</a:t>
            </a:r>
          </a:p>
        </p:txBody>
      </p:sp>
      <p:pic>
        <p:nvPicPr>
          <p:cNvPr id="11" name="Picture 10" descr="image.png"/>
          <p:cNvPicPr>
            <a:picLocks noChangeAspect="1"/>
          </p:cNvPicPr>
          <p:nvPr/>
        </p:nvPicPr>
        <p:blipFill>
          <a:blip r:embed="rId6"/>
          <a:stretch>
            <a:fillRect/>
          </a:stretch>
        </p:blipFill>
        <p:spPr>
          <a:xfrm>
            <a:off x="7975600" y="3302000"/>
            <a:ext cx="355600" cy="355600"/>
          </a:xfrm>
          <a:prstGeom prst="rect">
            <a:avLst/>
          </a:prstGeom>
        </p:spPr>
      </p:pic>
      <p:sp>
        <p:nvSpPr>
          <p:cNvPr id="12" name="TextBox 11"/>
          <p:cNvSpPr txBox="1"/>
          <p:nvPr/>
        </p:nvSpPr>
        <p:spPr>
          <a:xfrm>
            <a:off x="9804400" y="4953000"/>
            <a:ext cx="4445000" cy="381000"/>
          </a:xfrm>
          <a:prstGeom prst="rect">
            <a:avLst/>
          </a:prstGeom>
          <a:noFill/>
        </p:spPr>
        <p:txBody>
          <a:bodyPr wrap="square" anchor="t">
            <a:spAutoFit/>
          </a:bodyPr>
          <a:lstStyle/>
          <a:p>
            <a:pPr algn="l">
              <a:defRPr sz="2200" b="1" i="0">
                <a:solidFill>
                  <a:srgbClr val="454240"/>
                </a:solidFill>
                <a:latin typeface="Libre Baskerville"/>
              </a:defRPr>
            </a:pPr>
            <a:r>
              <a:t>Өзара байланыс</a:t>
            </a:r>
          </a:p>
        </p:txBody>
      </p:sp>
      <p:sp>
        <p:nvSpPr>
          <p:cNvPr id="13" name="TextBox 12"/>
          <p:cNvSpPr txBox="1"/>
          <p:nvPr/>
        </p:nvSpPr>
        <p:spPr>
          <a:xfrm>
            <a:off x="9804400" y="5397500"/>
            <a:ext cx="3810000" cy="1143000"/>
          </a:xfrm>
          <a:prstGeom prst="rect">
            <a:avLst/>
          </a:prstGeom>
          <a:noFill/>
        </p:spPr>
        <p:txBody>
          <a:bodyPr wrap="square" anchor="t">
            <a:spAutoFit/>
          </a:bodyPr>
          <a:lstStyle/>
          <a:p>
            <a:pPr algn="l">
              <a:defRPr sz="1750" b="0" i="0">
                <a:solidFill>
                  <a:srgbClr val="454240"/>
                </a:solidFill>
                <a:latin typeface="DM Sans"/>
              </a:defRPr>
            </a:pPr>
            <a:r>
              <a:t>Жүйе элементтерінің өзара байланыстылығы олардың бір-біріне әсер етуіне мүмкіндік береді, бұл жүйенің жалпы мінез-құлқын анықтайды.</a:t>
            </a:r>
          </a:p>
        </p:txBody>
      </p:sp>
      <p:pic>
        <p:nvPicPr>
          <p:cNvPr id="14" name="Picture 13" descr="image.png"/>
          <p:cNvPicPr>
            <a:picLocks noChangeAspect="1"/>
          </p:cNvPicPr>
          <p:nvPr/>
        </p:nvPicPr>
        <p:blipFill>
          <a:blip r:embed="rId7"/>
          <a:stretch>
            <a:fillRect/>
          </a:stretch>
        </p:blipFill>
        <p:spPr>
          <a:xfrm>
            <a:off x="7874000" y="5816600"/>
            <a:ext cx="355600" cy="355600"/>
          </a:xfrm>
          <a:prstGeom prst="rect">
            <a:avLst/>
          </a:prstGeom>
        </p:spPr>
      </p:pic>
      <p:sp>
        <p:nvSpPr>
          <p:cNvPr id="15" name="TextBox 14"/>
          <p:cNvSpPr txBox="1"/>
          <p:nvPr/>
        </p:nvSpPr>
        <p:spPr>
          <a:xfrm>
            <a:off x="762000" y="7239000"/>
            <a:ext cx="12700000" cy="762000"/>
          </a:xfrm>
          <a:prstGeom prst="rect">
            <a:avLst/>
          </a:prstGeom>
          <a:noFill/>
        </p:spPr>
        <p:txBody>
          <a:bodyPr wrap="square" anchor="t">
            <a:spAutoFit/>
          </a:bodyPr>
          <a:lstStyle/>
          <a:p>
            <a:pPr algn="l">
              <a:defRPr sz="1750" b="0" i="0">
                <a:solidFill>
                  <a:srgbClr val="454240"/>
                </a:solidFill>
                <a:latin typeface="DM Sans"/>
              </a:defRPr>
            </a:pPr>
            <a:r>
              <a:t>Бұл қасиеттер жүйенің сыртқы ортамен қарым-қатынасын және ішкі үйлесімділігін қамтамасыз етеді.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5486400" cy="8229600"/>
          </a:xfrm>
          <a:prstGeom prst="rect">
            <a:avLst/>
          </a:prstGeom>
        </p:spPr>
      </p:pic>
      <p:sp>
        <p:nvSpPr>
          <p:cNvPr id="3" name="TextBox 2"/>
          <p:cNvSpPr txBox="1"/>
          <p:nvPr/>
        </p:nvSpPr>
        <p:spPr>
          <a:xfrm>
            <a:off x="6350000" y="1714500"/>
            <a:ext cx="7620000" cy="1270000"/>
          </a:xfrm>
          <a:prstGeom prst="rect">
            <a:avLst/>
          </a:prstGeom>
          <a:noFill/>
        </p:spPr>
        <p:txBody>
          <a:bodyPr wrap="square" anchor="t">
            <a:spAutoFit/>
          </a:bodyPr>
          <a:lstStyle/>
          <a:p>
            <a:pPr algn="l">
              <a:defRPr sz="4400" b="1" i="0">
                <a:solidFill>
                  <a:srgbClr val="5C4E3D"/>
                </a:solidFill>
                <a:latin typeface="Libre Baskerville"/>
              </a:defRPr>
            </a:pPr>
            <a:r>
              <a:t>Жүйелердің түрлері</a:t>
            </a:r>
          </a:p>
        </p:txBody>
      </p:sp>
      <p:sp>
        <p:nvSpPr>
          <p:cNvPr id="4" name="Rounded Rectangle 3"/>
          <p:cNvSpPr/>
          <p:nvPr/>
        </p:nvSpPr>
        <p:spPr>
          <a:xfrm>
            <a:off x="6350000" y="317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50000" y="29210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1</a:t>
            </a:r>
          </a:p>
        </p:txBody>
      </p:sp>
      <p:sp>
        <p:nvSpPr>
          <p:cNvPr id="6" name="Rounded Rectangle 5"/>
          <p:cNvSpPr/>
          <p:nvPr/>
        </p:nvSpPr>
        <p:spPr>
          <a:xfrm>
            <a:off x="6350000" y="444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0000" y="4178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2</a:t>
            </a:r>
          </a:p>
        </p:txBody>
      </p:sp>
      <p:sp>
        <p:nvSpPr>
          <p:cNvPr id="8" name="Rounded Rectangle 7"/>
          <p:cNvSpPr/>
          <p:nvPr/>
        </p:nvSpPr>
        <p:spPr>
          <a:xfrm>
            <a:off x="6350000" y="571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0000" y="5448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3</a:t>
            </a:r>
          </a:p>
        </p:txBody>
      </p:sp>
      <p:sp>
        <p:nvSpPr>
          <p:cNvPr id="10" name="TextBox 9"/>
          <p:cNvSpPr txBox="1"/>
          <p:nvPr/>
        </p:nvSpPr>
        <p:spPr>
          <a:xfrm>
            <a:off x="6985000" y="2984500"/>
            <a:ext cx="6985000" cy="381000"/>
          </a:xfrm>
          <a:prstGeom prst="rect">
            <a:avLst/>
          </a:prstGeom>
          <a:noFill/>
        </p:spPr>
        <p:txBody>
          <a:bodyPr wrap="square" anchor="t">
            <a:spAutoFit/>
          </a:bodyPr>
          <a:lstStyle/>
          <a:p>
            <a:pPr algn="l">
              <a:defRPr sz="2200" b="1" i="0">
                <a:solidFill>
                  <a:srgbClr val="454240"/>
                </a:solidFill>
                <a:latin typeface="Libre Baskerville"/>
              </a:defRPr>
            </a:pPr>
            <a:r>
              <a:t>Табиғи жүйелер</a:t>
            </a:r>
          </a:p>
        </p:txBody>
      </p:sp>
      <p:sp>
        <p:nvSpPr>
          <p:cNvPr id="11" name="TextBox 10"/>
          <p:cNvSpPr txBox="1"/>
          <p:nvPr/>
        </p:nvSpPr>
        <p:spPr>
          <a:xfrm>
            <a:off x="6985000" y="3365500"/>
            <a:ext cx="6985000" cy="1143000"/>
          </a:xfrm>
          <a:prstGeom prst="rect">
            <a:avLst/>
          </a:prstGeom>
          <a:noFill/>
        </p:spPr>
        <p:txBody>
          <a:bodyPr wrap="square" anchor="t">
            <a:spAutoFit/>
          </a:bodyPr>
          <a:lstStyle/>
          <a:p>
            <a:pPr algn="l">
              <a:defRPr sz="1750" b="0" i="0">
                <a:solidFill>
                  <a:srgbClr val="454240"/>
                </a:solidFill>
                <a:latin typeface="DM Sans"/>
              </a:defRPr>
            </a:pPr>
            <a:r>
              <a:t>Табиғи жүйелерге адам ағзасы, өсімдіктер әлемі, жануарлар дүниесі және табиғат экожүйелері сияқты табиғатта өздігінен пайда болған жүйелер жатады.</a:t>
            </a:r>
          </a:p>
        </p:txBody>
      </p:sp>
      <p:sp>
        <p:nvSpPr>
          <p:cNvPr id="12" name="TextBox 11"/>
          <p:cNvSpPr txBox="1"/>
          <p:nvPr/>
        </p:nvSpPr>
        <p:spPr>
          <a:xfrm>
            <a:off x="6985000" y="4254500"/>
            <a:ext cx="6985000" cy="381000"/>
          </a:xfrm>
          <a:prstGeom prst="rect">
            <a:avLst/>
          </a:prstGeom>
          <a:noFill/>
        </p:spPr>
        <p:txBody>
          <a:bodyPr wrap="square" anchor="t">
            <a:spAutoFit/>
          </a:bodyPr>
          <a:lstStyle/>
          <a:p>
            <a:pPr algn="l">
              <a:defRPr sz="2200" b="1" i="0">
                <a:solidFill>
                  <a:srgbClr val="454240"/>
                </a:solidFill>
                <a:latin typeface="Libre Baskerville"/>
              </a:defRPr>
            </a:pPr>
            <a:r>
              <a:t>Жасанды жүйелер</a:t>
            </a:r>
          </a:p>
        </p:txBody>
      </p:sp>
      <p:sp>
        <p:nvSpPr>
          <p:cNvPr id="13" name="TextBox 12"/>
          <p:cNvSpPr txBox="1"/>
          <p:nvPr/>
        </p:nvSpPr>
        <p:spPr>
          <a:xfrm>
            <a:off x="6985000" y="4635500"/>
            <a:ext cx="6985000" cy="1143000"/>
          </a:xfrm>
          <a:prstGeom prst="rect">
            <a:avLst/>
          </a:prstGeom>
          <a:noFill/>
        </p:spPr>
        <p:txBody>
          <a:bodyPr wrap="square" anchor="t">
            <a:spAutoFit/>
          </a:bodyPr>
          <a:lstStyle/>
          <a:p>
            <a:pPr algn="l">
              <a:defRPr sz="1750" b="0" i="0">
                <a:solidFill>
                  <a:srgbClr val="454240"/>
                </a:solidFill>
                <a:latin typeface="DM Sans"/>
              </a:defRPr>
            </a:pPr>
            <a:r>
              <a:t>Жасанды жүйелерге компьютер, автомобиль, телефон және басқа да адам жасаған құрылғылар мен механизмдер сияқты адамның саналы әрекетінен туындаған жүйелер жатады.</a:t>
            </a:r>
          </a:p>
        </p:txBody>
      </p:sp>
      <p:sp>
        <p:nvSpPr>
          <p:cNvPr id="14" name="TextBox 13"/>
          <p:cNvSpPr txBox="1"/>
          <p:nvPr/>
        </p:nvSpPr>
        <p:spPr>
          <a:xfrm>
            <a:off x="6985000" y="5524500"/>
            <a:ext cx="6985000" cy="381000"/>
          </a:xfrm>
          <a:prstGeom prst="rect">
            <a:avLst/>
          </a:prstGeom>
          <a:noFill/>
        </p:spPr>
        <p:txBody>
          <a:bodyPr wrap="square" anchor="t">
            <a:spAutoFit/>
          </a:bodyPr>
          <a:lstStyle/>
          <a:p>
            <a:pPr algn="l">
              <a:defRPr sz="2200" b="1" i="0">
                <a:solidFill>
                  <a:srgbClr val="454240"/>
                </a:solidFill>
                <a:latin typeface="Libre Baskerville"/>
              </a:defRPr>
            </a:pPr>
            <a:r>
              <a:t>Абстрактілі жүйелер</a:t>
            </a:r>
          </a:p>
        </p:txBody>
      </p:sp>
      <p:sp>
        <p:nvSpPr>
          <p:cNvPr id="15" name="TextBox 14"/>
          <p:cNvSpPr txBox="1"/>
          <p:nvPr/>
        </p:nvSpPr>
        <p:spPr>
          <a:xfrm>
            <a:off x="6985000" y="5905500"/>
            <a:ext cx="6985000" cy="1143000"/>
          </a:xfrm>
          <a:prstGeom prst="rect">
            <a:avLst/>
          </a:prstGeom>
          <a:noFill/>
        </p:spPr>
        <p:txBody>
          <a:bodyPr wrap="square" anchor="t">
            <a:spAutoFit/>
          </a:bodyPr>
          <a:lstStyle/>
          <a:p>
            <a:pPr algn="l">
              <a:defRPr sz="1750" b="0" i="0">
                <a:solidFill>
                  <a:srgbClr val="454240"/>
                </a:solidFill>
                <a:latin typeface="DM Sans"/>
              </a:defRPr>
            </a:pPr>
            <a:r>
              <a:t>Математикалық теоремалар, логикалық жүйелер де абстрактілі жүйелерге жатқызылады, олардың элементтері мен байланыстары нақты емес, тек түсініктерден тұрады.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sp>
        <p:nvSpPr>
          <p:cNvPr id="2" name="TextBox 1"/>
          <p:cNvSpPr txBox="1"/>
          <p:nvPr/>
        </p:nvSpPr>
        <p:spPr>
          <a:xfrm>
            <a:off x="762000" y="1079500"/>
            <a:ext cx="12700000" cy="2120900"/>
          </a:xfrm>
          <a:prstGeom prst="rect">
            <a:avLst/>
          </a:prstGeom>
          <a:noFill/>
        </p:spPr>
        <p:txBody>
          <a:bodyPr wrap="square" anchor="t">
            <a:spAutoFit/>
          </a:bodyPr>
          <a:lstStyle/>
          <a:p>
            <a:pPr algn="l">
              <a:defRPr sz="4400" b="1" i="0">
                <a:solidFill>
                  <a:srgbClr val="5C4E3D"/>
                </a:solidFill>
                <a:latin typeface="Libre Baskerville"/>
              </a:defRPr>
            </a:pPr>
            <a:r>
              <a:t>Жүйелерді зерттеудің маңызы</a:t>
            </a:r>
          </a:p>
        </p:txBody>
      </p:sp>
      <p:sp>
        <p:nvSpPr>
          <p:cNvPr id="3" name="Rounded Rectangle 2"/>
          <p:cNvSpPr/>
          <p:nvPr/>
        </p:nvSpPr>
        <p:spPr>
          <a:xfrm>
            <a:off x="762000" y="2349500"/>
            <a:ext cx="2540000" cy="1270000"/>
          </a:xfrm>
          <a:prstGeom prst="roundRect">
            <a:avLst>
              <a:gd name="adj" fmla="val 1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492500" y="3613150"/>
            <a:ext cx="101600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5146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1</a:t>
            </a:r>
          </a:p>
        </p:txBody>
      </p:sp>
      <p:sp>
        <p:nvSpPr>
          <p:cNvPr id="6" name="TextBox 5"/>
          <p:cNvSpPr txBox="1"/>
          <p:nvPr/>
        </p:nvSpPr>
        <p:spPr>
          <a:xfrm>
            <a:off x="3556000" y="2514600"/>
            <a:ext cx="7543800" cy="1270000"/>
          </a:xfrm>
          <a:prstGeom prst="rect">
            <a:avLst/>
          </a:prstGeom>
          <a:noFill/>
        </p:spPr>
        <p:txBody>
          <a:bodyPr wrap="square" anchor="t">
            <a:spAutoFit/>
          </a:bodyPr>
          <a:lstStyle/>
          <a:p>
            <a:pPr algn="l">
              <a:defRPr sz="2200" b="1" i="0">
                <a:solidFill>
                  <a:srgbClr val="454240"/>
                </a:solidFill>
                <a:latin typeface="Libre Baskerville"/>
              </a:defRPr>
            </a:pPr>
            <a:r>
              <a:t>Түсінуге көмек</a:t>
            </a:r>
          </a:p>
        </p:txBody>
      </p:sp>
      <p:sp>
        <p:nvSpPr>
          <p:cNvPr id="7" name="TextBox 6"/>
          <p:cNvSpPr txBox="1"/>
          <p:nvPr/>
        </p:nvSpPr>
        <p:spPr>
          <a:xfrm>
            <a:off x="3556000" y="2984500"/>
            <a:ext cx="9906000" cy="1143000"/>
          </a:xfrm>
          <a:prstGeom prst="rect">
            <a:avLst/>
          </a:prstGeom>
          <a:noFill/>
        </p:spPr>
        <p:txBody>
          <a:bodyPr wrap="square" anchor="t">
            <a:spAutoFit/>
          </a:bodyPr>
          <a:lstStyle/>
          <a:p>
            <a:pPr algn="l">
              <a:defRPr sz="1750" b="0" i="0">
                <a:solidFill>
                  <a:srgbClr val="454240"/>
                </a:solidFill>
                <a:latin typeface="DM Sans"/>
              </a:defRPr>
            </a:pPr>
            <a:r>
              <a:t>Жүйелерді зерттеу олардың қалай жұмыс істейтінін, құрылымын және функцияларын тереңірек түсінуге мүмкіндік береді. Бұл білім проблемаларды шешуге негіз болады.</a:t>
            </a:r>
          </a:p>
        </p:txBody>
      </p:sp>
      <p:sp>
        <p:nvSpPr>
          <p:cNvPr id="8" name="Rounded Rectangle 7"/>
          <p:cNvSpPr/>
          <p:nvPr/>
        </p:nvSpPr>
        <p:spPr>
          <a:xfrm>
            <a:off x="762000" y="3746500"/>
            <a:ext cx="4445000" cy="1524000"/>
          </a:xfrm>
          <a:prstGeom prst="roundRect">
            <a:avLst>
              <a:gd name="adj" fmla="val 1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397500" y="5264150"/>
            <a:ext cx="82550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40386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2</a:t>
            </a:r>
          </a:p>
        </p:txBody>
      </p:sp>
      <p:sp>
        <p:nvSpPr>
          <p:cNvPr id="11" name="TextBox 10"/>
          <p:cNvSpPr txBox="1"/>
          <p:nvPr/>
        </p:nvSpPr>
        <p:spPr>
          <a:xfrm>
            <a:off x="5461000" y="3987800"/>
            <a:ext cx="7543800" cy="1270000"/>
          </a:xfrm>
          <a:prstGeom prst="rect">
            <a:avLst/>
          </a:prstGeom>
          <a:noFill/>
        </p:spPr>
        <p:txBody>
          <a:bodyPr wrap="square" anchor="t">
            <a:spAutoFit/>
          </a:bodyPr>
          <a:lstStyle/>
          <a:p>
            <a:pPr algn="l">
              <a:defRPr sz="2200" b="1" i="0">
                <a:solidFill>
                  <a:srgbClr val="454240"/>
                </a:solidFill>
                <a:latin typeface="Libre Baskerville"/>
              </a:defRPr>
            </a:pPr>
            <a:r>
              <a:t>Медицинадағы зерттеу</a:t>
            </a:r>
          </a:p>
        </p:txBody>
      </p:sp>
      <p:sp>
        <p:nvSpPr>
          <p:cNvPr id="12" name="TextBox 11"/>
          <p:cNvSpPr txBox="1"/>
          <p:nvPr/>
        </p:nvSpPr>
        <p:spPr>
          <a:xfrm>
            <a:off x="5461000" y="4381500"/>
            <a:ext cx="8001000" cy="1143000"/>
          </a:xfrm>
          <a:prstGeom prst="rect">
            <a:avLst/>
          </a:prstGeom>
          <a:noFill/>
        </p:spPr>
        <p:txBody>
          <a:bodyPr wrap="square" anchor="t">
            <a:spAutoFit/>
          </a:bodyPr>
          <a:lstStyle/>
          <a:p>
            <a:pPr algn="l">
              <a:defRPr sz="1750" b="0" i="0">
                <a:solidFill>
                  <a:srgbClr val="454240"/>
                </a:solidFill>
                <a:latin typeface="DM Sans"/>
              </a:defRPr>
            </a:pPr>
            <a:r>
              <a:t>Мысалы, ғалымдар адам ағзасының жүйесін зерттеп, аурулардың себептерін анықтап, оларды емдеуге жаңа әдістерді ашуда. Бұл сала медицинаның дамуына үлес қосады.</a:t>
            </a:r>
          </a:p>
        </p:txBody>
      </p:sp>
      <p:sp>
        <p:nvSpPr>
          <p:cNvPr id="13" name="Rounded Rectangle 12"/>
          <p:cNvSpPr/>
          <p:nvPr/>
        </p:nvSpPr>
        <p:spPr>
          <a:xfrm>
            <a:off x="762000" y="5397500"/>
            <a:ext cx="6350000" cy="1778000"/>
          </a:xfrm>
          <a:prstGeom prst="roundRect">
            <a:avLst>
              <a:gd name="adj" fmla="val 1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6000" y="58166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3</a:t>
            </a:r>
          </a:p>
        </p:txBody>
      </p:sp>
      <p:sp>
        <p:nvSpPr>
          <p:cNvPr id="15" name="TextBox 14"/>
          <p:cNvSpPr txBox="1"/>
          <p:nvPr/>
        </p:nvSpPr>
        <p:spPr>
          <a:xfrm>
            <a:off x="7366000" y="5765800"/>
            <a:ext cx="7543800" cy="1270000"/>
          </a:xfrm>
          <a:prstGeom prst="rect">
            <a:avLst/>
          </a:prstGeom>
          <a:noFill/>
        </p:spPr>
        <p:txBody>
          <a:bodyPr wrap="square" anchor="t">
            <a:spAutoFit/>
          </a:bodyPr>
          <a:lstStyle/>
          <a:p>
            <a:pPr algn="l">
              <a:defRPr sz="2200" b="1" i="0">
                <a:solidFill>
                  <a:srgbClr val="454240"/>
                </a:solidFill>
                <a:latin typeface="Libre Baskerville"/>
              </a:defRPr>
            </a:pPr>
            <a:r>
              <a:t>Инженерлік зерттеу</a:t>
            </a:r>
          </a:p>
        </p:txBody>
      </p:sp>
      <p:sp>
        <p:nvSpPr>
          <p:cNvPr id="16" name="TextBox 15"/>
          <p:cNvSpPr txBox="1"/>
          <p:nvPr/>
        </p:nvSpPr>
        <p:spPr>
          <a:xfrm>
            <a:off x="7366000" y="6159500"/>
            <a:ext cx="6096000" cy="1143000"/>
          </a:xfrm>
          <a:prstGeom prst="rect">
            <a:avLst/>
          </a:prstGeom>
          <a:noFill/>
        </p:spPr>
        <p:txBody>
          <a:bodyPr wrap="square" anchor="t">
            <a:spAutoFit/>
          </a:bodyPr>
          <a:lstStyle/>
          <a:p>
            <a:pPr algn="l">
              <a:defRPr sz="1750" b="0" i="0">
                <a:solidFill>
                  <a:srgbClr val="454240"/>
                </a:solidFill>
                <a:latin typeface="DM Sans"/>
              </a:defRPr>
            </a:pPr>
            <a:r>
              <a:t>Инженерлер жаңа техникалық жүйелерді жобалау үшін олардың жұмыс істеу принциптерін зерттейді, бұл техникалық прогрестің негізі болып табылады.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4630400" cy="3302000"/>
          </a:xfrm>
          <a:prstGeom prst="rect">
            <a:avLst/>
          </a:prstGeom>
        </p:spPr>
      </p:pic>
      <p:sp>
        <p:nvSpPr>
          <p:cNvPr id="3" name="TextBox 2"/>
          <p:cNvSpPr txBox="1"/>
          <p:nvPr/>
        </p:nvSpPr>
        <p:spPr>
          <a:xfrm>
            <a:off x="1270000" y="3429000"/>
            <a:ext cx="11430000" cy="1270000"/>
          </a:xfrm>
          <a:prstGeom prst="rect">
            <a:avLst/>
          </a:prstGeom>
          <a:noFill/>
        </p:spPr>
        <p:txBody>
          <a:bodyPr wrap="square" anchor="b">
            <a:spAutoFit/>
          </a:bodyPr>
          <a:lstStyle/>
          <a:p>
            <a:pPr algn="l">
              <a:defRPr sz="4400" b="1" i="0">
                <a:solidFill>
                  <a:srgbClr val="5C4E3D"/>
                </a:solidFill>
                <a:latin typeface="Libre Baskerville"/>
              </a:defRPr>
            </a:pPr>
            <a:r>
              <a:t>Жүйелік ойлау</a:t>
            </a:r>
          </a:p>
        </p:txBody>
      </p:sp>
      <p:sp>
        <p:nvSpPr>
          <p:cNvPr id="4" name="Rounded Rectangle 3"/>
          <p:cNvSpPr/>
          <p:nvPr/>
        </p:nvSpPr>
        <p:spPr>
          <a:xfrm>
            <a:off x="1270000" y="5080000"/>
            <a:ext cx="36576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8600" y="5080000"/>
            <a:ext cx="36576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347200" y="5080000"/>
            <a:ext cx="3657600" cy="2413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97000" y="5143500"/>
            <a:ext cx="3530600" cy="635000"/>
          </a:xfrm>
          <a:prstGeom prst="rect">
            <a:avLst/>
          </a:prstGeom>
          <a:noFill/>
        </p:spPr>
        <p:txBody>
          <a:bodyPr wrap="square" anchor="ctr">
            <a:spAutoFit/>
          </a:bodyPr>
          <a:lstStyle/>
          <a:p>
            <a:pPr algn="l">
              <a:defRPr sz="2200" b="1" i="0">
                <a:solidFill>
                  <a:srgbClr val="454240"/>
                </a:solidFill>
                <a:latin typeface="Libre Baskerville"/>
              </a:defRPr>
            </a:pPr>
            <a:r>
              <a:t>Тұтас қарастыру</a:t>
            </a:r>
          </a:p>
        </p:txBody>
      </p:sp>
      <p:sp>
        <p:nvSpPr>
          <p:cNvPr id="8" name="TextBox 7"/>
          <p:cNvSpPr txBox="1"/>
          <p:nvPr/>
        </p:nvSpPr>
        <p:spPr>
          <a:xfrm>
            <a:off x="1397000" y="5842000"/>
            <a:ext cx="3530600" cy="1143000"/>
          </a:xfrm>
          <a:prstGeom prst="rect">
            <a:avLst/>
          </a:prstGeom>
          <a:noFill/>
        </p:spPr>
        <p:txBody>
          <a:bodyPr wrap="square" anchor="t">
            <a:spAutoFit/>
          </a:bodyPr>
          <a:lstStyle/>
          <a:p>
            <a:pPr algn="l">
              <a:defRPr sz="1750" b="0" i="0">
                <a:solidFill>
                  <a:srgbClr val="454240"/>
                </a:solidFill>
                <a:latin typeface="DM Sans"/>
              </a:defRPr>
            </a:pPr>
            <a:r>
              <a:t>Жүйелік ойлау – кез келген құбылысты немесе мәселені жеке бөлшектер ретінде емес, өзара байланысты элементтерден тұратын тұтас жүйе ретінде қарастыру.</a:t>
            </a:r>
          </a:p>
        </p:txBody>
      </p:sp>
      <p:sp>
        <p:nvSpPr>
          <p:cNvPr id="9" name="TextBox 8"/>
          <p:cNvSpPr txBox="1"/>
          <p:nvPr/>
        </p:nvSpPr>
        <p:spPr>
          <a:xfrm>
            <a:off x="5435600" y="5143500"/>
            <a:ext cx="3530600" cy="635000"/>
          </a:xfrm>
          <a:prstGeom prst="rect">
            <a:avLst/>
          </a:prstGeom>
          <a:noFill/>
        </p:spPr>
        <p:txBody>
          <a:bodyPr wrap="square" anchor="ctr">
            <a:spAutoFit/>
          </a:bodyPr>
          <a:lstStyle/>
          <a:p>
            <a:pPr algn="l">
              <a:defRPr sz="2200" b="1" i="0">
                <a:solidFill>
                  <a:srgbClr val="454240"/>
                </a:solidFill>
                <a:latin typeface="Libre Baskerville"/>
              </a:defRPr>
            </a:pPr>
            <a:r>
              <a:t>Терең түсінік</a:t>
            </a:r>
          </a:p>
        </p:txBody>
      </p:sp>
      <p:sp>
        <p:nvSpPr>
          <p:cNvPr id="10" name="TextBox 9"/>
          <p:cNvSpPr txBox="1"/>
          <p:nvPr/>
        </p:nvSpPr>
        <p:spPr>
          <a:xfrm>
            <a:off x="5435600" y="5842000"/>
            <a:ext cx="3530600" cy="1143000"/>
          </a:xfrm>
          <a:prstGeom prst="rect">
            <a:avLst/>
          </a:prstGeom>
          <a:noFill/>
        </p:spPr>
        <p:txBody>
          <a:bodyPr wrap="square" anchor="t">
            <a:spAutoFit/>
          </a:bodyPr>
          <a:lstStyle/>
          <a:p>
            <a:pPr algn="l">
              <a:defRPr sz="1750" b="0" i="0">
                <a:solidFill>
                  <a:srgbClr val="454240"/>
                </a:solidFill>
                <a:latin typeface="DM Sans"/>
              </a:defRPr>
            </a:pPr>
            <a:r>
              <a:t>Бұл әлемді, қоғамды және табиғатты тереңірек түсінуге, күрделі мәселелерді шешуге және жаңа идеяларды ашуға көмектеседі.</a:t>
            </a:r>
          </a:p>
        </p:txBody>
      </p:sp>
      <p:sp>
        <p:nvSpPr>
          <p:cNvPr id="11" name="TextBox 10"/>
          <p:cNvSpPr txBox="1"/>
          <p:nvPr/>
        </p:nvSpPr>
        <p:spPr>
          <a:xfrm>
            <a:off x="9474200" y="5143500"/>
            <a:ext cx="3530600" cy="635000"/>
          </a:xfrm>
          <a:prstGeom prst="rect">
            <a:avLst/>
          </a:prstGeom>
          <a:noFill/>
        </p:spPr>
        <p:txBody>
          <a:bodyPr wrap="square" anchor="ctr">
            <a:spAutoFit/>
          </a:bodyPr>
          <a:lstStyle/>
          <a:p>
            <a:pPr algn="l">
              <a:defRPr sz="2200" b="1" i="0">
                <a:solidFill>
                  <a:srgbClr val="454240"/>
                </a:solidFill>
                <a:latin typeface="Libre Baskerville"/>
              </a:defRPr>
            </a:pPr>
            <a:r>
              <a:t>Мәселе шешу</a:t>
            </a:r>
          </a:p>
        </p:txBody>
      </p:sp>
      <p:sp>
        <p:nvSpPr>
          <p:cNvPr id="12" name="TextBox 11"/>
          <p:cNvSpPr txBox="1"/>
          <p:nvPr/>
        </p:nvSpPr>
        <p:spPr>
          <a:xfrm>
            <a:off x="9474200" y="5842000"/>
            <a:ext cx="3530600" cy="1143000"/>
          </a:xfrm>
          <a:prstGeom prst="rect">
            <a:avLst/>
          </a:prstGeom>
          <a:noFill/>
        </p:spPr>
        <p:txBody>
          <a:bodyPr wrap="square" anchor="t">
            <a:spAutoFit/>
          </a:bodyPr>
          <a:lstStyle/>
          <a:p>
            <a:pPr algn="l">
              <a:defRPr sz="1750" b="0" i="0">
                <a:solidFill>
                  <a:srgbClr val="454240"/>
                </a:solidFill>
                <a:latin typeface="DM Sans"/>
              </a:defRPr>
            </a:pPr>
            <a:r>
              <a:t>Жүйелік ойлау арқылы мектептегі проблеманы тек оқушыларға байланыстырмай, мұғалімдер, ата-аналар, оқу бағдарламасы сияқты барлық жүйе элементтерін ескеруге болады.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9144000" y="0"/>
            <a:ext cx="5486400" cy="8229600"/>
          </a:xfrm>
          <a:prstGeom prst="rect">
            <a:avLst/>
          </a:prstGeom>
        </p:spPr>
      </p:pic>
      <p:sp>
        <p:nvSpPr>
          <p:cNvPr id="3" name="TextBox 2"/>
          <p:cNvSpPr txBox="1"/>
          <p:nvPr/>
        </p:nvSpPr>
        <p:spPr>
          <a:xfrm>
            <a:off x="762000" y="254000"/>
            <a:ext cx="8128000" cy="2120900"/>
          </a:xfrm>
          <a:prstGeom prst="rect">
            <a:avLst/>
          </a:prstGeom>
          <a:noFill/>
        </p:spPr>
        <p:txBody>
          <a:bodyPr wrap="square" anchor="b">
            <a:spAutoFit/>
          </a:bodyPr>
          <a:lstStyle/>
          <a:p>
            <a:pPr algn="l">
              <a:defRPr sz="4400" b="1" i="0">
                <a:solidFill>
                  <a:srgbClr val="5C4E3D"/>
                </a:solidFill>
                <a:latin typeface="Libre Baskerville"/>
              </a:defRPr>
            </a:pPr>
            <a:r>
              <a:t>Жүйелік ойлаудың артықшылықтары</a:t>
            </a:r>
          </a:p>
        </p:txBody>
      </p:sp>
      <p:sp>
        <p:nvSpPr>
          <p:cNvPr id="4" name="Rounded Rectangle 3"/>
          <p:cNvSpPr/>
          <p:nvPr/>
        </p:nvSpPr>
        <p:spPr>
          <a:xfrm>
            <a:off x="1073150" y="2984500"/>
            <a:ext cx="12700" cy="33020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89000" y="317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9000" y="29210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1</a:t>
            </a:r>
          </a:p>
        </p:txBody>
      </p:sp>
      <p:sp>
        <p:nvSpPr>
          <p:cNvPr id="7" name="Rounded Rectangle 6"/>
          <p:cNvSpPr/>
          <p:nvPr/>
        </p:nvSpPr>
        <p:spPr>
          <a:xfrm>
            <a:off x="1270000" y="3359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9000" y="444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9000" y="4178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2</a:t>
            </a:r>
          </a:p>
        </p:txBody>
      </p:sp>
      <p:sp>
        <p:nvSpPr>
          <p:cNvPr id="10" name="Rounded Rectangle 9"/>
          <p:cNvSpPr/>
          <p:nvPr/>
        </p:nvSpPr>
        <p:spPr>
          <a:xfrm>
            <a:off x="1270000" y="4629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00" y="5715000"/>
            <a:ext cx="381000" cy="381000"/>
          </a:xfrm>
          <a:prstGeom prst="roundRect">
            <a:avLst>
              <a:gd name="adj" fmla="val 5000"/>
            </a:avLst>
          </a:prstGeom>
          <a:solidFill>
            <a:srgbClr val="F7EDD4"/>
          </a:solidFill>
          <a:ln w="12700">
            <a:solidFill>
              <a:srgbClr val="DDD3B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000" y="5448300"/>
            <a:ext cx="381000" cy="381000"/>
          </a:xfrm>
          <a:prstGeom prst="rect">
            <a:avLst/>
          </a:prstGeom>
          <a:noFill/>
        </p:spPr>
        <p:txBody>
          <a:bodyPr wrap="none" anchor="t" tIns="0" bIns="0" lIns="0" rIns="0">
            <a:spAutoFit/>
          </a:bodyPr>
          <a:lstStyle/>
          <a:p/>
          <a:p>
            <a:pPr algn="ctr">
              <a:defRPr sz="2300">
                <a:solidFill>
                  <a:srgbClr val="454240"/>
                </a:solidFill>
                <a:latin typeface="Inter"/>
              </a:defRPr>
            </a:pPr>
            <a:r>
              <a:t>3</a:t>
            </a:r>
          </a:p>
        </p:txBody>
      </p:sp>
      <p:sp>
        <p:nvSpPr>
          <p:cNvPr id="13" name="Rounded Rectangle 12"/>
          <p:cNvSpPr/>
          <p:nvPr/>
        </p:nvSpPr>
        <p:spPr>
          <a:xfrm>
            <a:off x="1270000" y="5899150"/>
            <a:ext cx="317500" cy="12700"/>
          </a:xfrm>
          <a:prstGeom prst="roundRect">
            <a:avLst>
              <a:gd name="adj" fmla="val 50000"/>
            </a:avLst>
          </a:prstGeom>
          <a:solidFill>
            <a:srgbClr val="DDD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05000" y="2984500"/>
            <a:ext cx="6985000" cy="381000"/>
          </a:xfrm>
          <a:prstGeom prst="rect">
            <a:avLst/>
          </a:prstGeom>
          <a:noFill/>
        </p:spPr>
        <p:txBody>
          <a:bodyPr wrap="square" anchor="t">
            <a:spAutoFit/>
          </a:bodyPr>
          <a:lstStyle/>
          <a:p>
            <a:pPr algn="l">
              <a:defRPr sz="2200" b="1" i="0">
                <a:solidFill>
                  <a:srgbClr val="454240"/>
                </a:solidFill>
                <a:latin typeface="Libre Baskerville"/>
              </a:defRPr>
            </a:pPr>
            <a:r>
              <a:t>Күрделіліктерді түсіну</a:t>
            </a:r>
          </a:p>
        </p:txBody>
      </p:sp>
      <p:sp>
        <p:nvSpPr>
          <p:cNvPr id="15" name="TextBox 14"/>
          <p:cNvSpPr txBox="1"/>
          <p:nvPr/>
        </p:nvSpPr>
        <p:spPr>
          <a:xfrm>
            <a:off x="1905000" y="3365500"/>
            <a:ext cx="6985000" cy="1143000"/>
          </a:xfrm>
          <a:prstGeom prst="rect">
            <a:avLst/>
          </a:prstGeom>
          <a:noFill/>
        </p:spPr>
        <p:txBody>
          <a:bodyPr wrap="square" anchor="t">
            <a:spAutoFit/>
          </a:bodyPr>
          <a:lstStyle/>
          <a:p>
            <a:pPr algn="l">
              <a:defRPr sz="1750" b="0" i="0">
                <a:solidFill>
                  <a:srgbClr val="454240"/>
                </a:solidFill>
                <a:latin typeface="DM Sans"/>
              </a:defRPr>
            </a:pPr>
            <a:r>
              <a:t>Жүйелік ойлау бізге әлемдегі күрделі байланыстар мен өзара тәуелділіктерді жақсырақ түсінуге мүмкіндік береді, бұл жаһандық мәселелерді шешуге көмектеседі.</a:t>
            </a:r>
          </a:p>
        </p:txBody>
      </p:sp>
      <p:sp>
        <p:nvSpPr>
          <p:cNvPr id="16" name="TextBox 15"/>
          <p:cNvSpPr txBox="1"/>
          <p:nvPr/>
        </p:nvSpPr>
        <p:spPr>
          <a:xfrm>
            <a:off x="1905000" y="4254500"/>
            <a:ext cx="6985000" cy="381000"/>
          </a:xfrm>
          <a:prstGeom prst="rect">
            <a:avLst/>
          </a:prstGeom>
          <a:noFill/>
        </p:spPr>
        <p:txBody>
          <a:bodyPr wrap="square" anchor="t">
            <a:spAutoFit/>
          </a:bodyPr>
          <a:lstStyle/>
          <a:p>
            <a:pPr algn="l">
              <a:defRPr sz="2200" b="1" i="0">
                <a:solidFill>
                  <a:srgbClr val="454240"/>
                </a:solidFill>
                <a:latin typeface="Libre Baskerville"/>
              </a:defRPr>
            </a:pPr>
            <a:r>
              <a:t>Инновациялар</a:t>
            </a:r>
          </a:p>
        </p:txBody>
      </p:sp>
      <p:sp>
        <p:nvSpPr>
          <p:cNvPr id="17" name="TextBox 16"/>
          <p:cNvSpPr txBox="1"/>
          <p:nvPr/>
        </p:nvSpPr>
        <p:spPr>
          <a:xfrm>
            <a:off x="1905000" y="4635500"/>
            <a:ext cx="6985000" cy="1143000"/>
          </a:xfrm>
          <a:prstGeom prst="rect">
            <a:avLst/>
          </a:prstGeom>
          <a:noFill/>
        </p:spPr>
        <p:txBody>
          <a:bodyPr wrap="square" anchor="t">
            <a:spAutoFit/>
          </a:bodyPr>
          <a:lstStyle/>
          <a:p>
            <a:pPr algn="l">
              <a:defRPr sz="1750" b="0" i="0">
                <a:solidFill>
                  <a:srgbClr val="454240"/>
                </a:solidFill>
                <a:latin typeface="DM Sans"/>
              </a:defRPr>
            </a:pPr>
            <a:r>
              <a:t>Жүйе элементтерінің өзара әрекеттесуін түсіну арқылы жаңа, инновациялық шешімдер мен идеяларды табуға болады, бұл кез келген саланың дамуына ықпал етеді.</a:t>
            </a:r>
          </a:p>
        </p:txBody>
      </p:sp>
      <p:sp>
        <p:nvSpPr>
          <p:cNvPr id="18" name="TextBox 17"/>
          <p:cNvSpPr txBox="1"/>
          <p:nvPr/>
        </p:nvSpPr>
        <p:spPr>
          <a:xfrm>
            <a:off x="1905000" y="5524500"/>
            <a:ext cx="6985000" cy="381000"/>
          </a:xfrm>
          <a:prstGeom prst="rect">
            <a:avLst/>
          </a:prstGeom>
          <a:noFill/>
        </p:spPr>
        <p:txBody>
          <a:bodyPr wrap="square" anchor="t">
            <a:spAutoFit/>
          </a:bodyPr>
          <a:lstStyle/>
          <a:p>
            <a:pPr algn="l">
              <a:defRPr sz="2200" b="1" i="0">
                <a:solidFill>
                  <a:srgbClr val="454240"/>
                </a:solidFill>
                <a:latin typeface="Libre Baskerville"/>
              </a:defRPr>
            </a:pPr>
            <a:r>
              <a:t>Тиімді шешімдер</a:t>
            </a:r>
          </a:p>
        </p:txBody>
      </p:sp>
      <p:sp>
        <p:nvSpPr>
          <p:cNvPr id="19" name="TextBox 18"/>
          <p:cNvSpPr txBox="1"/>
          <p:nvPr/>
        </p:nvSpPr>
        <p:spPr>
          <a:xfrm>
            <a:off x="1905000" y="5905500"/>
            <a:ext cx="6985000" cy="1143000"/>
          </a:xfrm>
          <a:prstGeom prst="rect">
            <a:avLst/>
          </a:prstGeom>
          <a:noFill/>
        </p:spPr>
        <p:txBody>
          <a:bodyPr wrap="square" anchor="t">
            <a:spAutoFit/>
          </a:bodyPr>
          <a:lstStyle/>
          <a:p>
            <a:pPr algn="l">
              <a:defRPr sz="1750" b="0" i="0">
                <a:solidFill>
                  <a:srgbClr val="454240"/>
                </a:solidFill>
                <a:latin typeface="DM Sans"/>
              </a:defRPr>
            </a:pPr>
            <a:r>
              <a:t>Әрбір проблеманы жүйе ретінде қарастыру, оның барлық компоненттерін ескеру арқылы, біз оған тиімдірек және ұзақ мерзімді шешімдерді таба аламыз.</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EFDF9"/>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9144000" y="0"/>
            <a:ext cx="5486400" cy="8229600"/>
          </a:xfrm>
          <a:prstGeom prst="rect">
            <a:avLst/>
          </a:prstGeom>
        </p:spPr>
      </p:pic>
      <p:sp>
        <p:nvSpPr>
          <p:cNvPr id="3" name="TextBox 2"/>
          <p:cNvSpPr txBox="1"/>
          <p:nvPr/>
        </p:nvSpPr>
        <p:spPr>
          <a:xfrm>
            <a:off x="762000" y="1524000"/>
            <a:ext cx="7543800" cy="1905000"/>
          </a:xfrm>
          <a:prstGeom prst="rect">
            <a:avLst/>
          </a:prstGeom>
          <a:noFill/>
        </p:spPr>
        <p:txBody>
          <a:bodyPr wrap="square" anchor="b">
            <a:spAutoFit/>
          </a:bodyPr>
          <a:lstStyle/>
          <a:p>
            <a:pPr algn="l">
              <a:defRPr sz="4400" b="1" i="0">
                <a:solidFill>
                  <a:srgbClr val="5C4E3D"/>
                </a:solidFill>
                <a:latin typeface="Libre Baskerville"/>
              </a:defRPr>
            </a:pPr>
            <a:r>
              <a:t>Қорытынды</a:t>
            </a:r>
          </a:p>
        </p:txBody>
      </p:sp>
      <p:sp>
        <p:nvSpPr>
          <p:cNvPr id="4" name="TextBox 3"/>
          <p:cNvSpPr txBox="1"/>
          <p:nvPr/>
        </p:nvSpPr>
        <p:spPr>
          <a:xfrm>
            <a:off x="762000" y="3937000"/>
            <a:ext cx="7543800" cy="1803400"/>
          </a:xfrm>
          <a:prstGeom prst="rect">
            <a:avLst/>
          </a:prstGeom>
          <a:noFill/>
        </p:spPr>
        <p:txBody>
          <a:bodyPr wrap="square" anchor="t">
            <a:spAutoFit/>
          </a:bodyPr>
          <a:lstStyle/>
          <a:p>
            <a:pPr algn="l">
              <a:defRPr sz="1750" b="0" i="0">
                <a:solidFill>
                  <a:srgbClr val="454240"/>
                </a:solidFill>
                <a:latin typeface="DM Sans"/>
              </a:defRPr>
            </a:pPr>
            <a:r>
              <a:t>Толық жүйе – бұл өзара байланысты элементтерден тұратын күрделі құрылым, оның функцияларын, қасиеттерін және түрлерін түсіну әлемді тануда маңызды рөл атқарады. Жүйелік ойлау, яғни кез келген құбылысты тұтас жүйе ретінде қарастыру, заманауи әлемдегі кез келген жетістіктің кілті болып табылады, өйткені ол бізге күрделіліктерді түсінуге және тиімді шешімдерді табуға көмектеседі.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